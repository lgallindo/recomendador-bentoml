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FFFFFF"/>
                </a:solidFill>
                <a:latin typeface="Georgia"/>
              </a:rPr>
              <a:t>Objetivo desta aula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10972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D5E0DE"/>
                </a:solidFill>
                <a:latin typeface="Calibri"/>
              </a:rPr>
              <a:t>Fazer o computador sugerir outros produtos quando o cliente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D5E0DE"/>
                </a:solidFill>
                <a:latin typeface="Calibri"/>
              </a:rPr>
              <a:t>abre a página de um produto — e publicar isso como serviço HTTP.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5029200" cy="2560320"/>
          </a:xfrm>
          <a:prstGeom prst="roundRect">
            <a:avLst/>
          </a:prstGeom>
          <a:solidFill>
            <a:srgbClr val="243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880360"/>
            <a:ext cx="4663440" cy="2286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ENTRADA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• produto_na_pagina  (ex.: p01)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• limite  (ex.: 4)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• excluir  (lista de ids)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743200"/>
            <a:ext cx="5029200" cy="2560320"/>
          </a:xfrm>
          <a:prstGeom prst="round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880360"/>
            <a:ext cx="4663440" cy="22860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SAÍDA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• lista de produtos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• cada um com nome, nota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  e posição na lista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126480"/>
            <a:ext cx="109728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4A5558"/>
                </a:solidFill>
                <a:latin typeface="Calibri"/>
              </a:rP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A1A1A"/>
                </a:solidFill>
                <a:latin typeface="Georgia"/>
              </a:rPr>
              <a:t>Fluxo e onde está no código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371600"/>
            <a:ext cx="1965960" cy="1325880"/>
          </a:xfrm>
          <a:prstGeom prst="round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1. Ler catálogo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 cestas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3657600"/>
            <a:ext cx="1965960" cy="1325880"/>
          </a:xfrm>
          <a:prstGeom prst="roundRect">
            <a:avLst/>
          </a:prstGeom>
          <a:solidFill>
            <a:srgbClr val="E8F2F0"/>
          </a:solidFill>
          <a:ln w="15875">
            <a:solidFill>
              <a:srgbClr val="0D7A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A1A1A"/>
                </a:solidFill>
                <a:latin typeface="Consolas"/>
              </a:rPr>
              <a:t>dados/</a:t>
            </a:r>
          </a:p>
          <a:p>
            <a:pPr algn="ctr"/>
            <a:r>
              <a:rPr sz="1300" b="1">
                <a:solidFill>
                  <a:srgbClr val="1A1A1A"/>
                </a:solidFill>
                <a:latin typeface="Consolas"/>
              </a:rPr>
              <a:t>catalogo.json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9460" y="2697480"/>
            <a:ext cx="30000" cy="960120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77440" y="2014540"/>
            <a:ext cx="146304" cy="40000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2432304" y="1924812"/>
            <a:ext cx="256032" cy="219456"/>
          </a:xfrm>
          <a:prstGeom prst="rightArrow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633472" y="1371600"/>
            <a:ext cx="1965960" cy="1325880"/>
          </a:xfrm>
          <a:prstGeom prst="roundRect">
            <a:avLst/>
          </a:prstGeom>
          <a:solidFill>
            <a:srgbClr val="1E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2. Calcular notas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 gravar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33472" y="3657600"/>
            <a:ext cx="1965960" cy="1325880"/>
          </a:xfrm>
          <a:prstGeom prst="roundRect">
            <a:avLst/>
          </a:prstGeom>
          <a:solidFill>
            <a:srgbClr val="E8F2F0"/>
          </a:solidFill>
          <a:ln w="15875">
            <a:solidFill>
              <a:srgbClr val="0D7A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A1A1A"/>
                </a:solidFill>
                <a:latin typeface="Consolas"/>
              </a:rPr>
              <a:t>treino.py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1452" y="2697480"/>
            <a:ext cx="30000" cy="960120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99432" y="2014540"/>
            <a:ext cx="146304" cy="40000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4654296" y="1924812"/>
            <a:ext cx="256032" cy="219456"/>
          </a:xfrm>
          <a:prstGeom prst="rightArrow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55464" y="1371600"/>
            <a:ext cx="1965960" cy="1325880"/>
          </a:xfrm>
          <a:prstGeom prst="round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3. Guardar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artefato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55464" y="3657600"/>
            <a:ext cx="1965960" cy="1325880"/>
          </a:xfrm>
          <a:prstGeom prst="roundRect">
            <a:avLst/>
          </a:prstGeom>
          <a:solidFill>
            <a:srgbClr val="E8F2F0"/>
          </a:solidFill>
          <a:ln w="15875">
            <a:solidFill>
              <a:srgbClr val="0D7A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A1A1A"/>
                </a:solidFill>
                <a:latin typeface="Consolas"/>
              </a:rPr>
              <a:t>model store</a:t>
            </a:r>
          </a:p>
          <a:p>
            <a:pPr algn="ctr"/>
            <a:r>
              <a:rPr sz="1300" b="1">
                <a:solidFill>
                  <a:srgbClr val="1A1A1A"/>
                </a:solidFill>
                <a:latin typeface="Consolas"/>
              </a:rPr>
              <a:t>BentoML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23444" y="2697480"/>
            <a:ext cx="30000" cy="960120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21424" y="2014540"/>
            <a:ext cx="146304" cy="40000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6876288" y="1924812"/>
            <a:ext cx="256032" cy="219456"/>
          </a:xfrm>
          <a:prstGeom prst="rightArrow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077456" y="1371600"/>
            <a:ext cx="1965960" cy="1325880"/>
          </a:xfrm>
          <a:prstGeom prst="roundRect">
            <a:avLst/>
          </a:prstGeom>
          <a:solidFill>
            <a:srgbClr val="1E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4. Receber HTTP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 montar lista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77456" y="3657600"/>
            <a:ext cx="1965960" cy="1325880"/>
          </a:xfrm>
          <a:prstGeom prst="roundRect">
            <a:avLst/>
          </a:prstGeom>
          <a:solidFill>
            <a:srgbClr val="E8F2F0"/>
          </a:solidFill>
          <a:ln w="15875">
            <a:solidFill>
              <a:srgbClr val="0D7A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A1A1A"/>
                </a:solidFill>
                <a:latin typeface="Consolas"/>
              </a:rPr>
              <a:t>service.py</a:t>
            </a:r>
          </a:p>
          <a:p>
            <a:pPr algn="ctr"/>
            <a:r>
              <a:rPr sz="1300" b="1">
                <a:solidFill>
                  <a:srgbClr val="1A1A1A"/>
                </a:solidFill>
                <a:latin typeface="Consolas"/>
              </a:rPr>
              <a:t>recomendar()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5436" y="2697480"/>
            <a:ext cx="30000" cy="960120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43416" y="2014540"/>
            <a:ext cx="146304" cy="40000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9098280" y="1924812"/>
            <a:ext cx="256032" cy="219456"/>
          </a:xfrm>
          <a:prstGeom prst="rightArrow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99448" y="1371600"/>
            <a:ext cx="1965960" cy="1325880"/>
          </a:xfrm>
          <a:prstGeom prst="round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5. Devolver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JSON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99448" y="3657600"/>
            <a:ext cx="1965960" cy="1325880"/>
          </a:xfrm>
          <a:prstGeom prst="roundRect">
            <a:avLst/>
          </a:prstGeom>
          <a:solidFill>
            <a:srgbClr val="E8F2F0"/>
          </a:solidFill>
          <a:ln w="15875">
            <a:solidFill>
              <a:srgbClr val="0D7A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A1A1A"/>
                </a:solidFill>
                <a:latin typeface="Consolas"/>
              </a:rPr>
              <a:t>resposta</a:t>
            </a:r>
          </a:p>
          <a:p>
            <a:pPr algn="ctr"/>
            <a:r>
              <a:rPr sz="1300" b="1">
                <a:solidFill>
                  <a:srgbClr val="1A1A1A"/>
                </a:solidFill>
                <a:latin typeface="Consolas"/>
              </a:rPr>
              <a:t>items[]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267428" y="2697480"/>
            <a:ext cx="30000" cy="960120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303520"/>
            <a:ext cx="10972800" cy="6400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4A5558"/>
                </a:solidFill>
                <a:latin typeface="Calibri"/>
              </a:rPr>
              <a:t>Linha de cima = o que acontece · linha de baixo = arquivo ou peça do sistema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126480"/>
            <a:ext cx="109728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4A5558"/>
                </a:solidFill>
                <a:latin typeface="Calibr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A1A1A"/>
                </a:solidFill>
                <a:latin typeface="Georgia"/>
              </a:rPr>
              <a:t>O que treino.py faz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4A5558"/>
                </a:solidFill>
                <a:latin typeface="Calibri"/>
              </a:rPr>
              <a:t>Roda uma vez antes de servir. Prepara números que o service.py só consulta.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2606040" cy="1828800"/>
          </a:xfrm>
          <a:prstGeom prst="round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Lê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dados/catalogo.json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produtos + cestas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0" y="2311720"/>
            <a:ext cx="118872" cy="40000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Arrow 6"/>
          <p:cNvSpPr/>
          <p:nvPr/>
        </p:nvSpPr>
        <p:spPr>
          <a:xfrm>
            <a:off x="3136392" y="2221992"/>
            <a:ext cx="256032" cy="219456"/>
          </a:xfrm>
          <a:prstGeom prst="rightArrow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37560" y="1417320"/>
            <a:ext cx="2606040" cy="1828800"/>
          </a:xfrm>
          <a:prstGeom prst="roundRect">
            <a:avLst/>
          </a:prstGeom>
          <a:solidFill>
            <a:srgbClr val="1E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Calcula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pedidos ÷ máximo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e “juntos” nas cestas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2311720"/>
            <a:ext cx="118872" cy="40000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5971032" y="2221992"/>
            <a:ext cx="256032" cy="219456"/>
          </a:xfrm>
          <a:prstGeom prst="rightArrow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200" y="1417320"/>
            <a:ext cx="2606040" cy="1828800"/>
          </a:xfrm>
          <a:prstGeom prst="round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Empacota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um dicionário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Python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2311720"/>
            <a:ext cx="118872" cy="40000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8805672" y="2221992"/>
            <a:ext cx="256032" cy="219456"/>
          </a:xfrm>
          <a:prstGeom prst="rightArrow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006840" y="1417320"/>
            <a:ext cx="2606040" cy="1828800"/>
          </a:xfrm>
          <a:prstGeom prst="roundRect">
            <a:avLst/>
          </a:prstGeom>
          <a:solidFill>
            <a:srgbClr val="1E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Grava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no store BentoML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(recomendador:…)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657600"/>
            <a:ext cx="11155680" cy="2011680"/>
          </a:xfrm>
          <a:prstGeom prst="roundRect">
            <a:avLst/>
          </a:prstGeom>
          <a:solidFill>
            <a:srgbClr val="E8F2F0"/>
          </a:solidFill>
          <a:ln w="15875">
            <a:solidFill>
              <a:srgbClr val="0D7A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840480"/>
            <a:ext cx="10789920" cy="17373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Entrada do treino: o JSON do catálogo.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Saída do treino: arquivo no model store (popularidade, similaridade, nomes).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Na aula: just treino  →  depois  just serve.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O cliente HTTP nunca chama treino.py; só o endpoint recomendar.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126480"/>
            <a:ext cx="109728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4A5558"/>
                </a:solidFill>
                <a:latin typeface="Calibr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A1A1A"/>
                </a:solidFill>
                <a:latin typeface="Georgia"/>
              </a:rPr>
              <a:t>Exemplo: cliente abriu o Jarro de barro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1155680" cy="3657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4A5558"/>
                </a:solidFill>
                <a:latin typeface="Calibri"/>
              </a:rPr>
              <a:t>produto_na_pagina = p01 · técnica = cerâmica · pedimos 4 sugestões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5669280" cy="4480560"/>
          </a:xfrm>
          <a:prstGeom prst="roundRect">
            <a:avLst/>
          </a:prstGeom>
          <a:solidFill>
            <a:srgbClr val="E8F2F0"/>
          </a:solidFill>
          <a:ln w="15875">
            <a:solidFill>
              <a:srgbClr val="0D7A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303520" cy="42062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1. Outros de cerâmica: Prato, Boneca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   (só 2 — ainda faltam vagas)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2. Nota = 0,7×popularidade + 0,3×juntos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   Prato ≈ 0,77 · Boneca ≈ 0,52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3. Completar com os mais pedidos: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   Rendeira ≈ 0,42 · Xilogravura ≈ 0,37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Detalhe das contas: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material/calculos-trabalhados.md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234440"/>
            <a:ext cx="5212080" cy="4480560"/>
          </a:xfrm>
          <a:prstGeom prst="roundRect">
            <a:avLst/>
          </a:prstGeom>
          <a:solidFill>
            <a:srgbClr val="1E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417320"/>
            <a:ext cx="4846320" cy="41148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Lista devolvida</a:t>
            </a: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1  Prato esmaltado</a:t>
            </a: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2  Boneca de barro</a:t>
            </a: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3  Rendeira Alto do Moura</a:t>
            </a: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4  Xilogravura Pilar</a:t>
            </a: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just curl-exemplo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126480"/>
            <a:ext cx="109728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4A5558"/>
                </a:solidFill>
                <a:latin typeface="Calibr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  <a:latin typeface="Georgia"/>
              </a:rPr>
              <a:t>Mesmos passos no código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11064240" cy="4754880"/>
          </a:xfrm>
          <a:prstGeom prst="roundRect">
            <a:avLst/>
          </a:prstGeom>
          <a:solidFill>
            <a:srgbClr val="243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10607040" cy="43891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>
                <a:solidFill>
                  <a:srgbClr val="B8E0D8"/>
                </a:solidFill>
                <a:latin typeface="Consolas"/>
              </a:rPr>
              <a:t># service.py — função recomendar</a:t>
            </a: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B8E0D8"/>
                </a:solidFill>
                <a:latin typeface="Consolas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B8E0D8"/>
                </a:solidFill>
                <a:latin typeface="Consolas"/>
              </a:rPr>
              <a:t># passo 1  candidatos = mesma técnica do produto_na_pagina</a:t>
            </a: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B8E0D8"/>
                </a:solidFill>
                <a:latin typeface="Consolas"/>
              </a:rPr>
              <a:t># passo 2  ordenar por pedidos (+ “juntos” nas cestas)</a:t>
            </a: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B8E0D8"/>
                </a:solidFill>
                <a:latin typeface="Consolas"/>
              </a:rPr>
              <a:t># passo 3  se ainda faltar vaga → pegar os mais pedidos</a:t>
            </a: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B8E0D8"/>
                </a:solidFill>
                <a:latin typeface="Consolas"/>
              </a:rPr>
              <a:t># passo 4  montar items[] com nome, score, reason, rank</a:t>
            </a: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B8E0D8"/>
                </a:solidFill>
                <a:latin typeface="Consolas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B8E0D8"/>
                </a:solidFill>
                <a:latin typeface="Consolas"/>
              </a:rPr>
              <a:t># treino.py — roda antes, uma vez</a:t>
            </a: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B8E0D8"/>
                </a:solidFill>
                <a:latin typeface="Consolas"/>
              </a:rPr>
              <a:t># lê catalogo.json  →  grava popularidade e similaridade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126480"/>
            <a:ext cx="109728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4A5558"/>
                </a:solidFill>
                <a:latin typeface="Calibr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1A1A1A"/>
                </a:solidFill>
                <a:latin typeface="Georgia"/>
              </a:rPr>
              <a:t>Onde isso fica no mapa da Inteligência Artificial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3383280" cy="2468880"/>
          </a:xfrm>
          <a:prstGeom prst="round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Regras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explícitas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Hoje: mesma técnica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+ mais pedidos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005840"/>
            <a:ext cx="3383280" cy="2468880"/>
          </a:xfrm>
          <a:prstGeom prst="roundRect">
            <a:avLst/>
          </a:prstGeom>
          <a:solidFill>
            <a:srgbClr val="1E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Aprendizado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de máquina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O computador ajusta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parâmetros com dados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e métricas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005840"/>
            <a:ext cx="3383280" cy="2468880"/>
          </a:xfrm>
          <a:prstGeom prst="roundRect">
            <a:avLst/>
          </a:prstGeom>
          <a:solidFill>
            <a:srgbClr val="E8F2F0"/>
          </a:solidFill>
          <a:ln w="15875">
            <a:solidFill>
              <a:srgbClr val="0D7A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A1A1A"/>
                </a:solidFill>
                <a:latin typeface="Calibri"/>
              </a:rPr>
              <a:t>IA generativa</a:t>
            </a:r>
          </a:p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Texto, imagens,</a:t>
            </a:r>
          </a:p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agentes conversando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11064240" cy="2011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Os três campos se misturam em produtos reais. Nesta aula ficamos no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primeiro: uma regra clara, testável, servida por HTTP.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Depois: (1) ligar à vitrine do marketplace · (2) estudar fundamentos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de aprendizado de máquina (Microsoft Learn, pt-BR) para trocar a regra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por um modelo treinado — sem mudar o contrato da API.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26480"/>
            <a:ext cx="109728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4A5558"/>
                </a:solidFill>
                <a:latin typeface="Calibr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