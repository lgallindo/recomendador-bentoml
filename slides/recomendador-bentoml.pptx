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Recomendador no BentoML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1463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5E0DE"/>
                </a:solidFill>
                <a:latin typeface="Calibri"/>
              </a:rPr>
              <a:t>A pessoa abre a página de um jarro de Tracunhaém.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D5E0DE"/>
                </a:solidFill>
                <a:latin typeface="Calibri"/>
              </a:rPr>
              <a:t>Embaixo: outras peças — mesma técnica, associação, demanda.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D5E0DE"/>
                </a:solidFill>
                <a:latin typeface="Calibri"/>
              </a:rPr>
              <a:t>Ranqueador HTTP: produto da página → lista curta com score e motivo legível.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657600"/>
            <a:ext cx="5029200" cy="182880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4663440" cy="1554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ENTRADA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produto_na_pagina · limite · excluir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657600"/>
            <a:ext cx="5029200" cy="182880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4663440" cy="1554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SAÍDA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items[] com score, reason, rank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 / 19  ·  cena → métricas → cesta → pipelines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A1A1A"/>
                </a:solidFill>
                <a:latin typeface="Georgia"/>
              </a:rPr>
              <a:t>Pacotes da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Baseline na raiz; pastas irmãs com artefato e porta próprios.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114300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69848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Raiz   ·   porta :3000   ·   recomendador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técnica + pop + cooc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51760"/>
            <a:ext cx="11155680" cy="1143000"/>
          </a:xfrm>
          <a:prstGeom prst="roundRect">
            <a:avLst/>
          </a:prstGeom>
          <a:solidFill>
            <a:srgbClr val="1E2A2E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069848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variante-demografica/   ·   porta :3001   ·   recomendador-demo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perfil + compras por faixa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77640"/>
            <a:ext cx="11155680" cy="114300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1069848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variante-clustering/   ·   porta :3002   ·   recomendador-cluster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dendrograma + cesta ⊕ cluster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2 / 19  ·  cena → métricas → cesta → pipelines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A1A1A"/>
                </a:solidFill>
                <a:latin typeface="Georgia"/>
              </a:rPr>
              <a:t>Sinais que a loja observa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Antes de ranquear, a loja já acumula duas leituras do passado.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Elas chegam ao recomendador como matéria-prima da nota.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5394960" cy="320040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029200" cy="28346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Demanda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Quantas vezes cada peça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já foi pedida.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Mostra o que a vitrine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costuma vender bem.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394960" cy="32004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029200" cy="28346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Compra conjunta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Quais peças saíram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na mesma compra.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Mostra pares que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andam juntos.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3 / 19  ·  cena → métricas → cesta → pipelines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A1A1A"/>
                </a:solidFill>
                <a:latin typeface="Georgia"/>
              </a:rPr>
              <a:t>Métricas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4A5558"/>
                </a:solidFill>
                <a:latin typeface="Calibri"/>
              </a:rPr>
              <a:t>Linguagem comum da ordenação — o que cada número significa na aula.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11247120" cy="91440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61288"/>
            <a:ext cx="10881360" cy="731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Popularidade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Quão pedido é cada produto no histórico da loja. Vira um peso na ordenação.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03120"/>
            <a:ext cx="11247120" cy="914400"/>
          </a:xfrm>
          <a:prstGeom prst="roundRect">
            <a:avLst/>
          </a:prstGeom>
          <a:solidFill>
            <a:srgbClr val="1E2A2E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10881360" cy="731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Co-ocorrência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Quão frequentemente dois produtos saem na mesma compra. Reforça pares que andam juntos.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154680"/>
            <a:ext cx="11247120" cy="91440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64408"/>
            <a:ext cx="10881360" cy="731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Score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Nota única que mistura esses sinais — e, nas variantes, sinais extras — para ranquear candidatos.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06240"/>
            <a:ext cx="11247120" cy="914400"/>
          </a:xfrm>
          <a:prstGeom prst="roundRect">
            <a:avLst/>
          </a:prstGeom>
          <a:solidFill>
            <a:srgbClr val="1E2A2E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315968"/>
            <a:ext cx="10881360" cy="731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Reason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Rótulo legível do motivo da sugestão: mesma técnica, complemento por popularidade, ou os rótulos das variantes.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9496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4A5558"/>
                </a:solidFill>
                <a:latin typeface="Calibri"/>
              </a:rPr>
              <a:t>Demográfica acrescenta afinidade de perfil; clustering acrescenta vizinhança de grupo.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4 / 19  ·  cena → métricas → cesta → pipelines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A1A1A"/>
                </a:solidFill>
                <a:latin typeface="Georgia"/>
              </a:rPr>
              <a:t>Cesta de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0972800" cy="11887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Numa compra, a cesta é o conjunto de produtos que saíram juntos.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O recomendador usa esse padrão para aprender associação entre itens: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peças que compartilham compras tendem a se reforçar na co-ocorrência.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11247120" cy="329184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31720"/>
            <a:ext cx="1078992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D5E0DE"/>
                </a:solidFill>
                <a:latin typeface="Calibri"/>
              </a:rPr>
              <a:t>Estrutura: lista de cestas; cada cesta = lista de ids de produto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10789920" cy="23774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"cestas": [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  ["p01", "p02", "p03"],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  ["p01", "p02"],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  ["p04", "p05", "p06"]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]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Ordem dentro da lista irrelevante — importa o par na mesma cesta.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5 / 19  ·  cena → métricas → cesta → pipelines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Métricas nos dados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5394960" cy="457200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02920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Popularidade (pop)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Parte da contagem de pedidos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de cada produto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pop = pedidos / max(pedidos)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Escala 0…1 no artefato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serviço usa pop no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914400"/>
            <a:ext cx="5394960" cy="45720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Co-ocorrência (cooc)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Parte das cestas de mercado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Conta pares na mesma compra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Normaliza pelo parceiro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mais frequente de cada item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Escala 0…1 no artefato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6 / 19  ·  cena → métricas → cesta → pipelines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Dois pipelines — treino e inferência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4A5558"/>
                </a:solidFill>
                <a:latin typeface="Calibri"/>
              </a:rPr>
              <a:t>Dois momentos distintos. Quem treina prepara o artefato; a vitrine consome a API.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486400" cy="457200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12064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TREINO  ·  offline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MLOps: training / batch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Comando: just treino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Arquivo: treino.py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Quem: operador (aula, CI, job)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Quando: catálogo ou regra muda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Lê dados → calcula pop e cooc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grava recomendador:…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43000"/>
            <a:ext cx="5486400" cy="45720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12064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INFERÊNCIA  ·  online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MLOps: inference / serving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Comando: just serve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Arquivo: service.py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Quem: vitrine (cliente HTTP)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Quando: cada página de produto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Carrega artefato uma vez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POST /recomendar → 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7 / 19  ·  cena → métricas → cesta → pipelines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Só o treino (offline)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Ator: operador que prepara o artefato. A vitrine fica de fora deste momento.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2011680" cy="237744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Operador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just treino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263176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2450592" y="254203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1760" y="1463040"/>
            <a:ext cx="2011680" cy="237744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treino.py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lê produtos + cestas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63176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690872" y="254203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92040" y="1463040"/>
            <a:ext cx="2011680" cy="237744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Cálculo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pop e cooc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63176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931152" y="254203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0" y="1463040"/>
            <a:ext cx="2011680" cy="237744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Model store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grava recomendador:…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263176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171432" y="254203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72600" y="1463040"/>
            <a:ext cx="2011680" cy="237744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Saída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imprime tag no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97680"/>
            <a:ext cx="10972800" cy="1280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Este passo deixa o artefato pronto para o serviço carregar.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Catálogo novo? Rode just treino de novo — isso é treino.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8 / 19  ·  cena → métricas → cesta → pipelines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Só a inferência (online)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Sobe o serviço uma vez; depois a vitrine conversa com a API a cada página.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13716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Uma vez:  just serve  →  carrega recomendador:latest  →  processo HTTP no 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11247120" cy="26517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0881360" cy="2286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Loop — cada página de produto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vitrine  →  POST /recomendar (pagina, limite, excluir)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service.py  →  aplica a regra sobre o artefato já carregado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vitrine  ←  JSON (items, reason, score)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A cada clique: usa o pickle pronto. O treino fica quieto.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9 / 19  ·  cena → métricas → cesta → pipelines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Artefato no meio — quem depende de quem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Depois de separar os pipelines: a seta que os liga é o model store.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45920"/>
            <a:ext cx="2011680" cy="21945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1A"/>
                </a:solidFill>
                <a:latin typeface="Consolas"/>
              </a:rPr>
              <a:t>catalogo.json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dados/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272320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2450592" y="263347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1760" y="1645920"/>
            <a:ext cx="2011680" cy="21945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treino.py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pop + cooc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2320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690872" y="263347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92040" y="1645920"/>
            <a:ext cx="2011680" cy="219456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model store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recomendador:…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2320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931152" y="263347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0" y="1645920"/>
            <a:ext cx="2011680" cy="21945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service.py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POST /recomendar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272320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171432" y="263347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72600" y="1645920"/>
            <a:ext cx="2011680" cy="21945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1A"/>
                </a:solidFill>
                <a:latin typeface="Consolas"/>
              </a:rPr>
              <a:t>JSON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items[]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97680"/>
            <a:ext cx="10972800" cy="1280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Esquerda do store = treino. Direita do store = inferência.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A vitrine fala com service.py; o JSON de dados alimenta o treino.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10 / 19  ·  cena → métricas → cesta → pipelines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Algoritmo na inferência (baseline)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731520"/>
          </a:xfrm>
          <a:prstGeom prst="roundRect">
            <a:avLst/>
          </a:prstGeom>
          <a:solidFill>
            <a:srgbClr val="0D7A6F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78992"/>
            <a:ext cx="106984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1. Contexto — pagina, limite, excluir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11155680" cy="73152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06984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2. Mesma técnica — candidatos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1155680" cy="731520"/>
          </a:xfrm>
          <a:prstGeom prst="roundRect">
            <a:avLst/>
          </a:prstGeom>
          <a:solidFill>
            <a:srgbClr val="0D7A6F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16352"/>
            <a:ext cx="106984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3. Score 0,7×pop + 0,3×cooc — ordena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20440"/>
            <a:ext cx="11155680" cy="73152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685032"/>
            <a:ext cx="106984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4. Complemento por popularidade se faltar vaga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9120"/>
            <a:ext cx="11155680" cy="731520"/>
          </a:xfrm>
          <a:prstGeom prst="roundRect">
            <a:avLst/>
          </a:prstGeom>
          <a:solidFill>
            <a:srgbClr val="0D7A6F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53712"/>
            <a:ext cx="106984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5. Resposta JSON (items, reason, rank)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11 / 19  ·  cena → métricas → cesta → pipelines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API — POST /recomendar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5394960" cy="411480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5029200" cy="374903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Entrada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produto_na_pagina  string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limite              int (padrão 4)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excluir             lista de ids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 própria página fica de fora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da lista de sugestões.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914400"/>
            <a:ext cx="5394960" cy="411480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374903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Saída (sucesso)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items[].product_id, nome,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  tecnica, regiao, score,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  reason, rank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complemento_usado · strategy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modelo (tag do artefato)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10972800" cy="5486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B8E0D8"/>
                </a:solidFill>
                <a:latin typeface="Consolas"/>
              </a:rPr>
              <a:t>Id fora do catálogo → {"erro":"produto_inexistente","items":[]}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12 / 19  ·  cena → métricas → cesta → pipelines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Como subir — treino depois serve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5486400" cy="457200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Pipeline TREINO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just treino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lê dados/catalogo.json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grava no model store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Rode de novo quando o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JSON ou a regra mudar.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914400"/>
            <a:ext cx="5486400" cy="45720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12064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Pipeline INFERÊNCIA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just serve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http://127.0.0.1:3000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just curl-exemplo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just curl-complemento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just curl-inexistente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Swagger na mesma porta.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13 / 19  ·  cena → métricas → cesta → pipelines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Exemplo p01 — jarro de Tracunhaém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68680"/>
            <a:ext cx="5394960" cy="466344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502920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just curl-exemplo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{"produto_na_pagina":"p01",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 "limite":4,"excluir":[]}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Contas no papel: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material/calculos-trabalhados.md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868680"/>
            <a:ext cx="5486400" cy="466344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051560"/>
            <a:ext cx="512064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Lista esperada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1  Prato  · mesma_tecnica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2  Boneca · mesma_tecnica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3  Rendeira · complemento…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4  Xilogravura · complemento…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complemento_usado: true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(duas outras cerâmicas;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 as vagas restantes vêm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 da popularidade geral)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14 / 19  ·  cena → métricas → cesta → pipelines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Nomes no código — offline | online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68680"/>
            <a:ext cx="5486400" cy="466344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512064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# treino.py  (offline)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catalogo → pedidos_brutos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  → max_pedidos → pop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cestas → conta → cooc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8E0D8"/>
                </a:solidFill>
                <a:latin typeface="Consolas"/>
              </a:rPr>
              <a:t>→ artefato recomendador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868680"/>
            <a:ext cx="5486400" cy="466344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51560"/>
            <a:ext cx="512064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# service.py  (online)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recomendar()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candidatos = mesma tecnica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score = 0.7*pop + 0.3*cooc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se faltar → complemento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15 / 19  ·  cena → métricas → cesta → pipelines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Literatura de recomendação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5394960" cy="5943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50292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onsolas"/>
              </a:rPr>
              <a:t>pop / pedidos_brutos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822960"/>
            <a:ext cx="5486400" cy="5943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932688"/>
            <a:ext cx="512064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popularity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5394960" cy="5943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18488"/>
            <a:ext cx="50292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onsolas"/>
              </a:rPr>
              <a:t>cooc / cestas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486400" cy="59436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18488"/>
            <a:ext cx="512064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co-ocorrência item–item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5394960" cy="5943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04288"/>
            <a:ext cx="50292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onsolas"/>
              </a:rPr>
              <a:t>filtro por tecnica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94560"/>
            <a:ext cx="5486400" cy="5943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304288"/>
            <a:ext cx="512064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filtragem por conteúdo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0360"/>
            <a:ext cx="5394960" cy="5943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90088"/>
            <a:ext cx="50292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onsolas"/>
              </a:rPr>
              <a:t>0,7×pop + 0,3×cooc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880360"/>
            <a:ext cx="5486400" cy="59436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990088"/>
            <a:ext cx="512064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híbrido ponderado (regra)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66160"/>
            <a:ext cx="5394960" cy="5943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50292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onsolas"/>
              </a:rPr>
              <a:t>complemento por pop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566160"/>
            <a:ext cx="5486400" cy="5943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675888"/>
            <a:ext cx="512064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fallback / cobertura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251960"/>
            <a:ext cx="5394960" cy="5943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61688"/>
            <a:ext cx="50292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onsolas"/>
              </a:rPr>
              <a:t>reason no JSON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251960"/>
            <a:ext cx="5486400" cy="59436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361688"/>
            <a:ext cx="512064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explicabilidade por regra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37760"/>
            <a:ext cx="5394960" cy="5943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47488"/>
            <a:ext cx="50292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onsolas"/>
              </a:rPr>
              <a:t>artefato + POST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4937760"/>
            <a:ext cx="5486400" cy="5943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5047488"/>
            <a:ext cx="512064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offline compute + online inference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16 / 19  ·  cena → métricas → cesta → pipelines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Data Science →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Hoje: ciência de dados + serviço. Próximo passo: features, rótulo e métrica.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383280" cy="38404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Hoje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Regra fixa 0,7 / 0,3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pickle de mapas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reason = nome da regra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63040"/>
            <a:ext cx="3383280" cy="38404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Amanhã (ML)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features + label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treino / validação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MAE · Precision@k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463040"/>
            <a:ext cx="3383280" cy="38404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Contrato HTTP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POST /recomendar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mesmo I/O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muda a origem do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17 / 19  ·  cena → métricas → cesta → pipelines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972800" cy="4114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Catálogo de variantes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777240"/>
            <a:ext cx="11155680" cy="1097280"/>
          </a:xfrm>
          <a:prstGeom prst="roundRect">
            <a:avLst/>
          </a:prstGeom>
          <a:solidFill>
            <a:srgbClr val="1E2A2E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698480" cy="777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Baseline (raiz :3000)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mesma técnica · 0,7 pop + 0,3 cooc · complemento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11155680" cy="10972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0698480" cy="777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Demográfica (:3001)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cliente_id · demo = preferências + pop na faixa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11155680" cy="10972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698480" cy="777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Clustering (:3002)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ímpar=cesta · par=cluster · dendrograma ward k=4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0"/>
            <a:ext cx="1097280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558"/>
                </a:solidFill>
                <a:latin typeface="Calibri"/>
              </a:rPr>
              <a:t>Na aula: regra auditável → raiz · perfil do cliente → demo · grupos + cesta → clustering.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558"/>
                </a:solidFill>
                <a:latin typeface="Calibri"/>
              </a:rPr>
              <a:t>Predição de demanda (prever pedidos) → repo irmão predicao-demanda-bentoml.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18 / 19  ·  cena → métricas → cesta → pipelines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Empacote — inferência portátil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D5E0DE"/>
                </a:solidFill>
                <a:latin typeface="Calibri"/>
              </a:rPr>
              <a:t>bentofile.yaml congela service + deps + modelo. Container = empacote do pipeline online.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47120" cy="393192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3566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B8E0D8"/>
                </a:solidFill>
                <a:latin typeface="Consolas"/>
              </a:rPr>
              <a:t># depois de just treino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B8E0D8"/>
                </a:solidFill>
                <a:latin typeface="Consolas"/>
              </a:rPr>
              <a:t>uv run bentoml build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B8E0D8"/>
                </a:solidFill>
                <a:latin typeface="Consolas"/>
              </a:rPr>
              <a:t>uv run bentoml containerize Recomendador:latest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B8E0D8"/>
                </a:solidFill>
                <a:latin typeface="Consolas"/>
              </a:rPr>
              <a:t>docker run --rm -p 3000:3000 Recomendador:&lt;tag&gt; serve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B8E0D8"/>
                </a:solidFill>
                <a:latin typeface="Consolas"/>
              </a:rPr>
              <a:t># mesmo POST /recomendar — agora em imagem OCI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B8E0D8"/>
                </a:solidFill>
                <a:latin typeface="Consolas"/>
              </a:rPr>
              <a:t>just curl-exemplo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19 / 19  ·  cena → métricas → cesta → pipelines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